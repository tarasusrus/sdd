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ВНУТРЕННИЙ МИТАП · ELTEX ·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Spec-Driven</a:t>
            </a:r>
            <a:endParaRPr lang="en-US" sz="7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Development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00584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Зачем нам спеки в эпоху ИИ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05840" y="5577840"/>
            <a:ext cx="3657600" cy="36576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Pavel Guzenko · Elph Nova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30–45 мин · Q&amp;A в конце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1 · ГДЕ МЫ СЕЙЧАС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Опрос среди нас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 человек · апрель 2026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881360" cy="566928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889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66%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94560" y="2788920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общаются с ChatGPT/Claude в чате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10881360" cy="566928"/>
          </a:xfrm>
          <a:prstGeom prst="rect">
            <a:avLst/>
          </a:prstGeom>
          <a:solidFill>
            <a:srgbClr val="DBF2FC"/>
          </a:solidFill>
          <a:ln w="12700">
            <a:solidFill>
              <a:srgbClr val="DBF2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0215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94560" y="3502152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день: автокомплит, кусочки кода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10881360" cy="566928"/>
          </a:xfrm>
          <a:prstGeom prst="rect">
            <a:avLst/>
          </a:prstGeom>
          <a:solidFill>
            <a:srgbClr val="F6EEFE"/>
          </a:solidFill>
          <a:ln w="12700">
            <a:solidFill>
              <a:srgbClr val="F6EE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153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F4D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194560" y="4215384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большая часть кода через агентов, ревью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4928616"/>
            <a:ext cx="10881360" cy="566928"/>
          </a:xfrm>
          <a:prstGeom prst="rect">
            <a:avLst/>
          </a:prstGeom>
          <a:solidFill>
            <a:srgbClr val="FFEBD9"/>
          </a:solidFill>
          <a:ln w="12700">
            <a:solidFill>
              <a:srgbClr val="FFEB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92861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A0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194560" y="4928616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наблюдают, пробовали пару раз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5641848"/>
            <a:ext cx="10881360" cy="56692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64184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194560" y="564184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пишут сами, без ИИ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1 · ГДЕ МЫ СЕЙЧАС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Доклад — про вас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10881360" cy="173736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60320"/>
            <a:ext cx="73152" cy="173736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889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 66%, кто работает с ИИ в чате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0584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про тех, кто живёт в Cursor. Не про тех, кто полностью отдал код агентам.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 всех нас — кто открыл вкладку, спросил, скопировал ответ.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 для тех 10%, кто уже в Cursor / Claude Code, тоже будет полезно.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/ 44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не так с</a:t>
            </a: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vibe coding</a:t>
            </a:r>
            <a:endParaRPr lang="en-US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1 · ЧТО НЕ ТАК С VIBE CODING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Vibe coding работает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не выдумка маркетологов и не хайп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486400" cy="310896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260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+55%</a:t>
            </a:r>
            <a:endParaRPr lang="en-US" sz="110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 скорости на простых задачах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Контролируемое исследование GitHub, 2024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2907792"/>
            <a:ext cx="164592" cy="164592"/>
          </a:xfrm>
          <a:prstGeom prst="ellipse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 пару часов — рабочее мини-приложение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2240" y="3547872"/>
            <a:ext cx="164592" cy="164592"/>
          </a:xfrm>
          <a:prstGeom prst="ellipse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3383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Даже без опыта в стеке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4187952"/>
            <a:ext cx="164592" cy="164592"/>
          </a:xfrm>
          <a:prstGeom prst="ellipse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 мы это пробовали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4828032"/>
            <a:ext cx="164592" cy="164592"/>
          </a:xfrm>
          <a:prstGeom prst="ellipse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4663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 ощутили эффект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Andrej Karpathy ввёл термин «vibe coding» в начале 2024 года.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1 · ЧТО НЕ ТАК С VIBE CODING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 теперь — где это ломается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Три системные проблемы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3520440" cy="3291840"/>
          </a:xfrm>
          <a:prstGeom prst="rect">
            <a:avLst/>
          </a:prstGeom>
          <a:solidFill>
            <a:srgbClr val="FEDEE3"/>
          </a:solidFill>
          <a:ln w="12700">
            <a:solidFill>
              <a:srgbClr val="FED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200400"/>
            <a:ext cx="640080" cy="640080"/>
          </a:xfrm>
          <a:prstGeom prst="rect">
            <a:avLst/>
          </a:prstGeom>
          <a:solidFill>
            <a:srgbClr val="CD2644"/>
          </a:solidFill>
          <a:ln w="12700">
            <a:solidFill>
              <a:srgbClr val="CD26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Знание уходит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 чатом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43400" y="2926080"/>
            <a:ext cx="3520440" cy="3291840"/>
          </a:xfrm>
          <a:prstGeom prst="rect">
            <a:avLst/>
          </a:prstGeom>
          <a:solidFill>
            <a:srgbClr val="FFEBD9"/>
          </a:solidFill>
          <a:ln w="12700">
            <a:solidFill>
              <a:srgbClr val="FFEB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3200400"/>
            <a:ext cx="640080" cy="640080"/>
          </a:xfrm>
          <a:prstGeom prst="rect">
            <a:avLst/>
          </a:prstGeom>
          <a:solidFill>
            <a:srgbClr val="FFA04D"/>
          </a:solidFill>
          <a:ln w="12700">
            <a:solidFill>
              <a:srgbClr val="FFA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40233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 ИИ короткая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память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46720" y="2926080"/>
            <a:ext cx="3520440" cy="3291840"/>
          </a:xfrm>
          <a:prstGeom prst="rect">
            <a:avLst/>
          </a:prstGeom>
          <a:solidFill>
            <a:srgbClr val="F6EEFE"/>
          </a:solidFill>
          <a:ln w="12700">
            <a:solidFill>
              <a:srgbClr val="F6EE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3200400"/>
            <a:ext cx="640080" cy="640080"/>
          </a:xfrm>
          <a:prstGeom prst="rect">
            <a:avLst/>
          </a:prstGeom>
          <a:solidFill>
            <a:srgbClr val="8F4DD0"/>
          </a:solidFill>
          <a:ln w="12700">
            <a:solidFill>
              <a:srgbClr val="8F4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21040" y="40233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запрос →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разные ответы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1 · ЧТО НЕ ТАК С VIBE CODING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Знание уходит вместе с чатом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Через неделю-другую — открываете свой код и не помните, почему так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943600" cy="3108960"/>
          </a:xfrm>
          <a:prstGeom prst="rect">
            <a:avLst/>
          </a:prstGeom>
          <a:solidFill>
            <a:srgbClr val="FEDEE3"/>
          </a:solidFill>
          <a:ln w="12700">
            <a:solidFill>
              <a:srgbClr val="FE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22A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30–60%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rework через 6 месяцев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InfoWorld · CIO ·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СИМПТОМЫ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49440" y="3364992"/>
            <a:ext cx="146304" cy="146304"/>
          </a:xfrm>
          <a:prstGeom prst="ellipse">
            <a:avLst/>
          </a:prstGeom>
          <a:solidFill>
            <a:srgbClr val="CD2644"/>
          </a:solidFill>
          <a:ln w="12700">
            <a:solidFill>
              <a:srgbClr val="CD26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3200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сидит в своём чате — общей памяти нет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949440" y="3959352"/>
            <a:ext cx="146304" cy="146304"/>
          </a:xfrm>
          <a:prstGeom prst="ellipse">
            <a:avLst/>
          </a:prstGeom>
          <a:solidFill>
            <a:srgbClr val="CD2644"/>
          </a:solidFill>
          <a:ln w="12700">
            <a:solidFill>
              <a:srgbClr val="CD26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3794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Никто не знает, почему фича сделана так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49440" y="4553712"/>
            <a:ext cx="146304" cy="146304"/>
          </a:xfrm>
          <a:prstGeom prst="ellipse">
            <a:avLst/>
          </a:prstGeom>
          <a:solidFill>
            <a:srgbClr val="CD2644"/>
          </a:solidFill>
          <a:ln w="12700">
            <a:solidFill>
              <a:srgbClr val="CD26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43891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Новый человек не может разобраться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49440" y="5148072"/>
            <a:ext cx="146304" cy="146304"/>
          </a:xfrm>
          <a:prstGeom prst="ellipse">
            <a:avLst/>
          </a:prstGeom>
          <a:solidFill>
            <a:srgbClr val="CD2644"/>
          </a:solidFill>
          <a:ln w="12700">
            <a:solidFill>
              <a:srgbClr val="CD26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49834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переделке — собираем команду «вспомнить»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1 · ЧТО НЕ ТАК С VIBE CODING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У ИИ короткая память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не «ИИ тупеет». У него забивается оперативка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1371600"/>
          </a:xfrm>
          <a:prstGeom prst="rect">
            <a:avLst/>
          </a:prstGeom>
          <a:solidFill>
            <a:srgbClr val="FFEBD9"/>
          </a:solidFill>
          <a:ln w="12700">
            <a:solidFill>
              <a:srgbClr val="FFEB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83464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14A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 15-му сообщению забывает, что обсуждали в 3-м.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914A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 20-му — противоречит сам себе.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4727448"/>
            <a:ext cx="146304" cy="36576"/>
          </a:xfrm>
          <a:prstGeom prst="rect">
            <a:avLst/>
          </a:prstGeom>
          <a:solidFill>
            <a:srgbClr val="FFA04D"/>
          </a:solidFill>
          <a:ln w="12700">
            <a:solidFill>
              <a:srgbClr val="FFA0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526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Окно расширяется — у Claude уже миллион токенов. Но дело не в размере.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230368"/>
            <a:ext cx="146304" cy="36576"/>
          </a:xfrm>
          <a:prstGeom prst="rect">
            <a:avLst/>
          </a:prstGeom>
          <a:solidFill>
            <a:srgbClr val="FFA04D"/>
          </a:solidFill>
          <a:ln w="12700">
            <a:solidFill>
              <a:srgbClr val="FFA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029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Дело в том, что намерение нигде не зафиксировано — оно живёт только в текущей сессии.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733288"/>
            <a:ext cx="146304" cy="36576"/>
          </a:xfrm>
          <a:prstGeom prst="rect">
            <a:avLst/>
          </a:prstGeom>
          <a:solidFill>
            <a:srgbClr val="FFA04D"/>
          </a:solidFill>
          <a:ln w="12700">
            <a:solidFill>
              <a:srgbClr val="FFA0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532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новый чат начинается с нуля. И ваш агент, и ваш сосед — не знают, о чём вы вчера договаривались.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1 · ЧТО НЕ ТАК С VIBE CODING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Один запрос → три разных ответа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Простой эксперимент — попробуйте сегодня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822960"/>
          </a:xfrm>
          <a:prstGeom prst="rect">
            <a:avLst/>
          </a:prstGeom>
          <a:solidFill>
            <a:srgbClr val="F3F3F3"/>
          </a:solidFill>
          <a:ln w="6350">
            <a:solidFill>
              <a:srgbClr val="C6CB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Промпт: «Сделай выгрузку чата в PDF»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3611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↓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4069080"/>
            <a:ext cx="3291840" cy="2011680"/>
          </a:xfrm>
          <a:prstGeom prst="rect">
            <a:avLst/>
          </a:prstGeom>
          <a:solidFill>
            <a:srgbClr val="FCFCFC"/>
          </a:solidFill>
          <a:ln w="19050">
            <a:solidFill>
              <a:srgbClr val="275E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4251960"/>
            <a:ext cx="914400" cy="32004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251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Чат 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46634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92D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Использует CoreData,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92D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pages = 50,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92D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format = .pdf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0" y="3611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↓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572000" y="4069080"/>
            <a:ext cx="3291840" cy="2011680"/>
          </a:xfrm>
          <a:prstGeom prst="rect">
            <a:avLst/>
          </a:prstGeom>
          <a:solidFill>
            <a:srgbClr val="FCFCFC"/>
          </a:solidFill>
          <a:ln w="19050">
            <a:solidFill>
              <a:srgbClr val="56C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4251960"/>
            <a:ext cx="914400" cy="320040"/>
          </a:xfrm>
          <a:prstGeom prst="rect">
            <a:avLst/>
          </a:prstGeom>
          <a:solidFill>
            <a:srgbClr val="56C0F0"/>
          </a:solidFill>
          <a:ln w="12700">
            <a:solidFill>
              <a:srgbClr val="56C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4251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Чат 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46634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92D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SwiftData,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92D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pages = 100,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92D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share через UIActivity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0" y="3611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↓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229600" y="4069080"/>
            <a:ext cx="3291840" cy="2011680"/>
          </a:xfrm>
          <a:prstGeom prst="rect">
            <a:avLst/>
          </a:prstGeom>
          <a:solidFill>
            <a:srgbClr val="FCFCFC"/>
          </a:solidFill>
          <a:ln w="19050">
            <a:solidFill>
              <a:srgbClr val="8F4D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4251960"/>
            <a:ext cx="914400" cy="320040"/>
          </a:xfrm>
          <a:prstGeom prst="rect">
            <a:avLst/>
          </a:prstGeom>
          <a:solidFill>
            <a:srgbClr val="8F4DD0"/>
          </a:solidFill>
          <a:ln w="12700">
            <a:solidFill>
              <a:srgbClr val="8F4D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251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Чат 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58200" y="466344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92D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FileManager,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92D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разбивка на страницы вручную,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92D3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.txt fallback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/ 44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ГЛАВНАЯ МЫСЛЬ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 не в ИИ.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 в том, что мы</a:t>
            </a:r>
            <a:endParaRPr lang="en-US" sz="5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нигде не записываем,</a:t>
            </a:r>
            <a:endParaRPr lang="en-US" sz="5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хотим получить.</a:t>
            </a:r>
            <a:endParaRPr lang="en-US" sz="5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/ 44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такое</a:t>
            </a:r>
            <a:endParaRPr lang="en-US" sz="5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Spec-Driven</a:t>
            </a:r>
            <a:endParaRPr lang="en-US" sz="5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Development</a:t>
            </a:r>
            <a:endParaRPr lang="en-US" sz="5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2 · ЧТО ТАКОЕ SDD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SDD — одной фразой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Звучит банально. И это всё.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0881360" cy="320040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834640"/>
            <a:ext cx="91440" cy="320040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063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Сначала пишем,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097280" y="37947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хотим получить и зачем.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097280" y="4937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Потом ИИ делает по этому описанию.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2 · ЧТО ТАКОЕ SDD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Главная инверсия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Кто кому служит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212080" cy="3200400"/>
          </a:xfrm>
          <a:prstGeom prst="rect">
            <a:avLst/>
          </a:prstGeom>
          <a:solidFill>
            <a:srgbClr val="F3F3F3"/>
          </a:solidFill>
          <a:ln w="6350">
            <a:solidFill>
              <a:srgbClr val="E8E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РАНЬШЕ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Документ обслуживает код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разошлись — побеждает код.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Документация почти всегда устаревала.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55080" y="2743200"/>
            <a:ext cx="5212080" cy="320040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2743200"/>
            <a:ext cx="73152" cy="320040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ТЕПЕРЬ — SDD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0" y="3337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 обслуживает документ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41148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разошлись — побеждает документ.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 правим под него.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2 · ЧТО ТАКОЕ SDD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Общий поток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шаг = отдельный документ в проекте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92328" y="3291840"/>
            <a:ext cx="1691640" cy="128016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2328" y="3291840"/>
            <a:ext cx="54864" cy="128016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9488" y="3456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29488" y="3977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намерение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38248" y="3703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575408" y="3291840"/>
            <a:ext cx="1691640" cy="128016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75408" y="3291840"/>
            <a:ext cx="54864" cy="128016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12568" y="3456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12568" y="3977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делать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21328" y="3703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358488" y="3291840"/>
            <a:ext cx="1691640" cy="128016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58488" y="3291840"/>
            <a:ext cx="54864" cy="128016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5648" y="3456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495648" y="3977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 шагам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04408" y="3703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41568" y="3291840"/>
            <a:ext cx="1691640" cy="128016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1568" y="3291840"/>
            <a:ext cx="54864" cy="128016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8728" y="3456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78728" y="3977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пишем код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87488" y="3703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924648" y="3291840"/>
            <a:ext cx="1691640" cy="128016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24648" y="3291840"/>
            <a:ext cx="54864" cy="128016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61808" y="3456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61808" y="3977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70568" y="3703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9707728" y="3291840"/>
            <a:ext cx="1691640" cy="1280160"/>
          </a:xfrm>
          <a:prstGeom prst="rect">
            <a:avLst/>
          </a:prstGeom>
          <a:solidFill>
            <a:srgbClr val="D9F1E2"/>
          </a:solidFill>
          <a:ln w="12700">
            <a:solidFill>
              <a:srgbClr val="D9F1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07728" y="3291840"/>
            <a:ext cx="54864" cy="1280160"/>
          </a:xfrm>
          <a:prstGeom prst="rect">
            <a:avLst/>
          </a:prstGeom>
          <a:solidFill>
            <a:srgbClr val="0A883A"/>
          </a:solidFill>
          <a:ln w="12700">
            <a:solidFill>
              <a:srgbClr val="0A88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44888" y="3456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6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Archive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844888" y="3977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полочку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← обратная связь · дельты ·  обновление спеки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5486400"/>
            <a:ext cx="10881360" cy="59436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54864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«всё держим в голове и в чате» — а «всё лежит в файлах рядом с кодом».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2 · ЧТО ТАКОЕ SDD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Vibe vs Spec-Driven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Где именно меняется работа</a:t>
            </a:r>
            <a:endParaRPr lang="en-US" sz="1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840480"/>
                <a:gridCol w="38404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200" kern="0" dirty="0">
                          <a:solidFill>
                            <a:srgbClr val="922A3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VIBE (чат)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E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200" kern="0" dirty="0">
                          <a:solidFill>
                            <a:srgbClr val="275EC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SPEC-DRIVEN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Источник правды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сообщение в чате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документ в репо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Контекст после сессии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пропадает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остаётся в файлах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Один и тот же запрос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разные ответы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стабильно похожий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Знание у команды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у того, кто промптил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у всех, кто прочитал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Через полгода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переделываем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продолжаем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37160" marR="137160" marT="137160" marB="13716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 / 44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Спека ≠</a:t>
            </a: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документация</a:t>
            </a:r>
            <a:endParaRPr lang="en-US" sz="6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3 · СПЕКА ≠ ДОКУМЕНТАЦИЯ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Три слоя памяти проекта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отвечает на свой вопрос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3520440" cy="274320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834640"/>
            <a:ext cx="73152" cy="2743200"/>
          </a:xfrm>
          <a:prstGeom prst="rect">
            <a:avLst/>
          </a:prstGeom>
          <a:solidFill>
            <a:srgbClr val="748297"/>
          </a:solidFill>
          <a:ln w="12700">
            <a:solidFill>
              <a:srgbClr val="7482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Код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отвечает на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«как»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именно делается, в каком порядке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43400" y="2834640"/>
            <a:ext cx="3520440" cy="2743200"/>
          </a:xfrm>
          <a:prstGeom prst="rect">
            <a:avLst/>
          </a:prstGeom>
          <a:solidFill>
            <a:srgbClr val="DBF2FC"/>
          </a:solidFill>
          <a:ln w="12700">
            <a:solidFill>
              <a:srgbClr val="DBF2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834640"/>
            <a:ext cx="73152" cy="2743200"/>
          </a:xfrm>
          <a:prstGeom prst="rect">
            <a:avLst/>
          </a:prstGeom>
          <a:solidFill>
            <a:srgbClr val="1E698E"/>
          </a:solidFill>
          <a:ln w="12700">
            <a:solidFill>
              <a:srgbClr val="1E69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history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отвечает на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698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«когда»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617720" y="46634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появилось, кто менял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46720" y="2834640"/>
            <a:ext cx="3520440" cy="274320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2834640"/>
            <a:ext cx="73152" cy="274320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Спека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32104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отвечает на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3840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«зачем»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321040" y="46634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почему мы это вообще делаем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852160"/>
            <a:ext cx="10881360" cy="502920"/>
          </a:xfrm>
          <a:prstGeom prst="rect">
            <a:avLst/>
          </a:prstGeom>
          <a:solidFill>
            <a:srgbClr val="FFEBD9"/>
          </a:solidFill>
          <a:ln w="12700">
            <a:solidFill>
              <a:srgbClr val="FFEB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852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14A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«Зачем» теряется быстрее всего — и его никто не восстанавливает по коду.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3 · СПЕКА ≠ ДОКУМЕНТАЦИЯ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Спека нужна не везде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Самая частая ошибка внедрения — писать спеки на всё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440680" cy="3108960"/>
          </a:xfrm>
          <a:prstGeom prst="rect">
            <a:avLst/>
          </a:prstGeom>
          <a:solidFill>
            <a:srgbClr val="FEDEE3"/>
          </a:solidFill>
          <a:ln w="12700">
            <a:solidFill>
              <a:srgbClr val="FE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26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22A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✕  НЕ НУЖНА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520440"/>
            <a:ext cx="146304" cy="36576"/>
          </a:xfrm>
          <a:prstGeom prst="rect">
            <a:avLst/>
          </a:prstGeom>
          <a:solidFill>
            <a:srgbClr val="CD2644"/>
          </a:solidFill>
          <a:ln w="12700">
            <a:solidFill>
              <a:srgbClr val="CD26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383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Опечатки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4023360"/>
            <a:ext cx="146304" cy="36576"/>
          </a:xfrm>
          <a:prstGeom prst="rect">
            <a:avLst/>
          </a:prstGeom>
          <a:solidFill>
            <a:srgbClr val="CD2644"/>
          </a:solidFill>
          <a:ln w="12700">
            <a:solidFill>
              <a:srgbClr val="CD26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886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Цвет кнопки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4526280"/>
            <a:ext cx="146304" cy="36576"/>
          </a:xfrm>
          <a:prstGeom prst="rect">
            <a:avLst/>
          </a:prstGeom>
          <a:solidFill>
            <a:srgbClr val="CD2644"/>
          </a:solidFill>
          <a:ln w="12700">
            <a:solidFill>
              <a:srgbClr val="CD26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Локальный лог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5029200"/>
            <a:ext cx="146304" cy="36576"/>
          </a:xfrm>
          <a:prstGeom prst="rect">
            <a:avLst/>
          </a:prstGeom>
          <a:solidFill>
            <a:srgbClr val="CD2644"/>
          </a:solidFill>
          <a:ln w="12700">
            <a:solidFill>
              <a:srgbClr val="CD26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892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Копирайт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2743200"/>
            <a:ext cx="5303520" cy="3108960"/>
          </a:xfrm>
          <a:prstGeom prst="rect">
            <a:avLst/>
          </a:prstGeom>
          <a:solidFill>
            <a:srgbClr val="D9F1E2"/>
          </a:solidFill>
          <a:ln w="12700">
            <a:solidFill>
              <a:srgbClr val="D9F1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766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НУЖНА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3520440"/>
            <a:ext cx="146304" cy="36576"/>
          </a:xfrm>
          <a:prstGeom prst="rect">
            <a:avLst/>
          </a:prstGeom>
          <a:solidFill>
            <a:srgbClr val="0A883A"/>
          </a:solidFill>
          <a:ln w="12700">
            <a:solidFill>
              <a:srgbClr val="0A88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33832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Новая фича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37960" y="4023360"/>
            <a:ext cx="146304" cy="36576"/>
          </a:xfrm>
          <a:prstGeom prst="rect">
            <a:avLst/>
          </a:prstGeom>
          <a:solidFill>
            <a:srgbClr val="0A883A"/>
          </a:solidFill>
          <a:ln w="12700">
            <a:solidFill>
              <a:srgbClr val="0A88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38862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Изменения через несколько модулей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37960" y="4526280"/>
            <a:ext cx="146304" cy="36576"/>
          </a:xfrm>
          <a:prstGeom prst="rect">
            <a:avLst/>
          </a:prstGeom>
          <a:solidFill>
            <a:srgbClr val="0A883A"/>
          </a:solidFill>
          <a:ln w="12700">
            <a:solidFill>
              <a:srgbClr val="0A88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43891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Дорогая откатывать переделка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37960" y="5029200"/>
            <a:ext cx="146304" cy="36576"/>
          </a:xfrm>
          <a:prstGeom prst="rect">
            <a:avLst/>
          </a:prstGeom>
          <a:solidFill>
            <a:srgbClr val="0A883A"/>
          </a:solidFill>
          <a:ln w="12700">
            <a:solidFill>
              <a:srgbClr val="0A88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4892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Кросс-командная работа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" y="5989320"/>
            <a:ext cx="10927080" cy="50292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989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Тест: «Если бы меня бесило, что ИИ понял задание не так — пишу спеку. Если всё равно — нет.»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 / 44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Анатомия</a:t>
            </a: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хорошей спеки</a:t>
            </a:r>
            <a:endParaRPr lang="en-US" sz="6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4 · АНАТОМИЯ СПЕКИ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Спеку читают двое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 них разные потребности — хорошая спека работает для обоих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440680" cy="3200400"/>
          </a:xfrm>
          <a:prstGeom prst="rect">
            <a:avLst/>
          </a:prstGeom>
          <a:solidFill>
            <a:srgbClr val="F3F3F3"/>
          </a:solidFill>
          <a:ln w="6350">
            <a:solidFill>
              <a:srgbClr val="E8E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ЧЕЛОВЕК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 или коллега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14400" y="4325112"/>
            <a:ext cx="128016" cy="128016"/>
          </a:xfrm>
          <a:prstGeom prst="ellipse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 1 минуту — «что и зачем»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828032"/>
            <a:ext cx="128016" cy="128016"/>
          </a:xfrm>
          <a:prstGeom prst="ellipse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617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 10 минут — «варианты и trade-offs»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5330952"/>
            <a:ext cx="128016" cy="128016"/>
          </a:xfrm>
          <a:prstGeom prst="ellipse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хочет читать стену текста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2834640"/>
            <a:ext cx="5303520" cy="320040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ИИ-АГЕНТ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3383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 переспрашиваний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537960" y="4325112"/>
            <a:ext cx="128016" cy="128016"/>
          </a:xfrm>
          <a:prstGeom prst="ellipse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4114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Никаких «обычно так делаем»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37960" y="4828032"/>
            <a:ext cx="128016" cy="128016"/>
          </a:xfrm>
          <a:prstGeom prst="ellipse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46177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Никаких «как у всех», «по красоте»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37960" y="5330952"/>
            <a:ext cx="128016" cy="128016"/>
          </a:xfrm>
          <a:prstGeom prst="ellipse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5120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Только «когда X — должно произойти Y»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4 · АНАТОМИЯ СПЕКИ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21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Шаблон спеки на одну фичу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Восемь разделов · 1.5–3 страницы · Markdown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394960" cy="758952"/>
          </a:xfrm>
          <a:prstGeom prst="rect">
            <a:avLst/>
          </a:prstGeom>
          <a:solidFill>
            <a:srgbClr val="FCFCFC"/>
          </a:solidFill>
          <a:ln w="9525">
            <a:solidFill>
              <a:srgbClr val="E8E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43200"/>
            <a:ext cx="54864" cy="758952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907792"/>
            <a:ext cx="457200" cy="45720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8620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Зачем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154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Какую боль убираем · метрика успеха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5394960" cy="758952"/>
          </a:xfrm>
          <a:prstGeom prst="rect">
            <a:avLst/>
          </a:prstGeom>
          <a:solidFill>
            <a:srgbClr val="FCFCFC"/>
          </a:solidFill>
          <a:ln w="9525">
            <a:solidFill>
              <a:srgbClr val="E8E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743200"/>
            <a:ext cx="54864" cy="758952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907792"/>
            <a:ext cx="457200" cy="45720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28620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3154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Поведение в терминах пользователя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5394960" cy="758952"/>
          </a:xfrm>
          <a:prstGeom prst="rect">
            <a:avLst/>
          </a:prstGeom>
          <a:solidFill>
            <a:srgbClr val="FCFCFC"/>
          </a:solidFill>
          <a:ln w="9525">
            <a:solidFill>
              <a:srgbClr val="E8E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566160"/>
            <a:ext cx="54864" cy="758952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730752"/>
            <a:ext cx="457200" cy="45720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17320" y="3685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39776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входит и что НЕ — защита от scope creep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3566160"/>
            <a:ext cx="5394960" cy="758952"/>
          </a:xfrm>
          <a:prstGeom prst="rect">
            <a:avLst/>
          </a:prstGeom>
          <a:solidFill>
            <a:srgbClr val="FCFCFC"/>
          </a:solidFill>
          <a:ln w="9525">
            <a:solidFill>
              <a:srgbClr val="E8E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3566160"/>
            <a:ext cx="54864" cy="758952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3730752"/>
            <a:ext cx="457200" cy="45720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3685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Чек-лист готовности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03720" y="39776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пункт testable, проверка да/нет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4389120"/>
            <a:ext cx="5394960" cy="758952"/>
          </a:xfrm>
          <a:prstGeom prst="rect">
            <a:avLst/>
          </a:prstGeom>
          <a:solidFill>
            <a:srgbClr val="FCFCFC"/>
          </a:solidFill>
          <a:ln w="9525">
            <a:solidFill>
              <a:srgbClr val="E8E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389120"/>
            <a:ext cx="54864" cy="758952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4553712"/>
            <a:ext cx="457200" cy="45720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417320" y="45079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Ограничения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17320" y="48006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нельзя сломать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26480" y="4389120"/>
            <a:ext cx="5394960" cy="758952"/>
          </a:xfrm>
          <a:prstGeom prst="rect">
            <a:avLst/>
          </a:prstGeom>
          <a:solidFill>
            <a:srgbClr val="FCFCFC"/>
          </a:solidFill>
          <a:ln w="9525">
            <a:solidFill>
              <a:srgbClr val="E8E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4389120"/>
            <a:ext cx="54864" cy="758952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4553712"/>
            <a:ext cx="457200" cy="45720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903720" y="45079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Решения и trade-offs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03720" y="48006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выбрали, что отбросили и почему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5212080"/>
            <a:ext cx="5394960" cy="758952"/>
          </a:xfrm>
          <a:prstGeom prst="rect">
            <a:avLst/>
          </a:prstGeom>
          <a:solidFill>
            <a:srgbClr val="FCFCFC"/>
          </a:solidFill>
          <a:ln w="9525">
            <a:solidFill>
              <a:srgbClr val="E8EA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" y="5212080"/>
            <a:ext cx="54864" cy="758952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960" y="5376672"/>
            <a:ext cx="457200" cy="45720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417320" y="5330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Открытые вопросы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417320" y="56235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не решили — с указанием owner-а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26480" y="5212080"/>
            <a:ext cx="5394960" cy="758952"/>
          </a:xfrm>
          <a:prstGeom prst="rect">
            <a:avLst/>
          </a:prstGeom>
          <a:solidFill>
            <a:srgbClr val="FCFCFC"/>
          </a:solidFill>
          <a:ln w="9525">
            <a:solidFill>
              <a:srgbClr val="E8E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26480" y="5212080"/>
            <a:ext cx="54864" cy="758952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09360" y="5376672"/>
            <a:ext cx="457200" cy="45720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6903720" y="5330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Ссылки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903720" y="56235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Дизайн, тикеты, смежные спеки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Размер 1.5–3 страницы. Получилось больше — пора делить на две.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4 · АНАТОМИЯ СПЕКИ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22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правил хорошей спеки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Одна спека = одна фича. Не «весь модуль», а «вход по СМС».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640080" cy="64008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502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35021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Чек-листы testable: не «удобно», а «при ошибке сети — экран с кнопкой Повторить».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215384"/>
            <a:ext cx="640080" cy="64008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15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463040" y="42153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Без кода и названий технологий — спека про поведение, не про реализацию.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928616"/>
            <a:ext cx="640080" cy="64008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928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63040" y="492861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«Что НЕ делаем» — обязательно. Защищает от того, что ИИ додумает лишнее.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641848"/>
            <a:ext cx="640080" cy="64008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641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63040" y="56418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«Зачем» в начале, не в конце. Иначе нельзя ревьюить «как».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4 · АНАТОМИЯ СПЕКИ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23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Так точно НЕ надо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solidFill>
            <a:srgbClr val="FEDEE3"/>
          </a:solidFill>
          <a:ln w="12700">
            <a:solidFill>
              <a:srgbClr val="FED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2A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✕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2788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Спека как пересказ кода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788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«функция возвращает массив строк» — это документация на код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640080" cy="640080"/>
          </a:xfrm>
          <a:prstGeom prst="rect">
            <a:avLst/>
          </a:prstGeom>
          <a:solidFill>
            <a:srgbClr val="FEDEE3"/>
          </a:solidFill>
          <a:ln w="12700">
            <a:solidFill>
              <a:srgbClr val="FEDE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65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2A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✕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346557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Спека без чек-листа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346557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«должно быть удобно и красиво» — никто не проверит готовность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640080" cy="640080"/>
          </a:xfrm>
          <a:prstGeom prst="rect">
            <a:avLst/>
          </a:prstGeom>
          <a:solidFill>
            <a:srgbClr val="FEDEE3"/>
          </a:solidFill>
          <a:ln w="12700">
            <a:solidFill>
              <a:srgbClr val="FEDE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42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2A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✕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41422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 страниц текста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1422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никто не прочитает, ИИ перегрузит контекст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18888"/>
            <a:ext cx="640080" cy="640080"/>
          </a:xfrm>
          <a:prstGeom prst="rect">
            <a:avLst/>
          </a:prstGeom>
          <a:solidFill>
            <a:srgbClr val="FEDEE3"/>
          </a:solidFill>
          <a:ln w="12700">
            <a:solidFill>
              <a:srgbClr val="FEDE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8188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2A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✕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463040" y="481888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Одна спека на 5 фич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81888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невозможно ревьюить и архивировать атомарно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495544"/>
            <a:ext cx="640080" cy="640080"/>
          </a:xfrm>
          <a:prstGeom prst="rect">
            <a:avLst/>
          </a:prstGeom>
          <a:solidFill>
            <a:srgbClr val="FEDEE3"/>
          </a:solidFill>
          <a:ln w="12700">
            <a:solidFill>
              <a:srgbClr val="FEDE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495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2A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✕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463040" y="549554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Спека написана после кода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549554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уже документация постфактум, главный смысл потерян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 / 44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 вас уже есть</a:t>
            </a:r>
            <a:endParaRPr lang="en-US" sz="5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половина SDD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Mode в Cursor / Claude Code / Codex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5 · PLAN MODE В IDE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Mode — это половина SDD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Похоже на SDD, но это не SDD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881360" cy="7772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88920"/>
            <a:ext cx="73152" cy="77724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88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Cursor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27889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Mode + Plan tabs (можно сохранять, экспортить в md)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10881360" cy="7772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657600"/>
            <a:ext cx="73152" cy="777240"/>
          </a:xfrm>
          <a:prstGeom prst="rect">
            <a:avLst/>
          </a:prstGeom>
          <a:solidFill>
            <a:srgbClr val="8F4DD0"/>
          </a:solidFill>
          <a:ln w="12700">
            <a:solidFill>
              <a:srgbClr val="8F4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576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4D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0" y="3657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Shift+Tab → Plan Mode, TodoWrite tool, plan.md в plansDirectory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526280"/>
            <a:ext cx="10881360" cy="7772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526280"/>
            <a:ext cx="73152" cy="777240"/>
          </a:xfrm>
          <a:prstGeom prst="rect">
            <a:avLst/>
          </a:prstGeom>
          <a:solidFill>
            <a:srgbClr val="56C0F0"/>
          </a:solidFill>
          <a:ln w="12700">
            <a:solidFill>
              <a:srgbClr val="56C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5262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Codex / Workspace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023360" y="45262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 → Plan → Tasks при выборе задачи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0881360" cy="868680"/>
          </a:xfrm>
          <a:prstGeom prst="rect">
            <a:avLst/>
          </a:prstGeom>
          <a:solidFill>
            <a:srgbClr val="FFEBD9"/>
          </a:solidFill>
          <a:ln w="12700">
            <a:solidFill>
              <a:srgbClr val="FFEB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486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914A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план реализации (КАК).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914A1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ещё НЕ спека намерения (ЗАЧЕМ).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5 · PLAN MODE В IDE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26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Чего не хватает в Plan Mode</a:t>
            </a:r>
            <a:endParaRPr lang="en-US" sz="3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246888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CURSOR PLAN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CLAUDE CODE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275EC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SPEC KIT / OPENSPEC</a:t>
                      </a:r>
                      <a:endParaRPr lang="en-US" sz="11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«Зачем»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4829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4829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883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«Как»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883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883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883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«Что НЕ делаем»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4829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4829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883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Сохраняется в проект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вручную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опционально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883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Связь между планами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4829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4829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883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Архивация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4829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4829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—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A883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✓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хватает трёх кусочков: «зачем» перед планом, сохранения в репо, архивации после готовности.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 / 44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Готовые</a:t>
            </a:r>
            <a:endParaRPr lang="en-US" sz="5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SDD-инструменты</a:t>
            </a:r>
            <a:endParaRPr lang="en-US" sz="5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6 · ГОТОВЫЕ ИНСТРУМЕНТЫ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Сначала — главное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51760"/>
            <a:ext cx="91440" cy="146304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432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SDD — это принцип, а не тулзы.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05840" y="34290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Применяется прямо в чате — без CLI, без плагинов, без установки.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10881360" cy="182880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26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C0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Вы: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45262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Сгенерируй спеку фичи Х по структуре: Зачем / Что / Что НЕ / Чек-лист.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937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8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ИИ: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4937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[генерит спеку]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349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C0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Вы: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5349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Теперь план реализации.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5760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C0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Вы: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1732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Нарежь на задачи. Реализуй задачу 1.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6 · ГОТОВЫЕ ИНСТРУМЕНТЫ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 Kit (GitHub)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Флагман · стандарт индустрии · поддерживает почти всех агентов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440680" cy="338328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ПРИНЦИП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Структурированный workflow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КОГО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Новые проекты, новые фичи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МИНУС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Тяжёлый для микро-изменений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2743200"/>
            <a:ext cx="5303520" cy="338328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32918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/specify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7960" y="3886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/plan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37960" y="4480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/tasks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37960" y="5074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/implement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37960" y="5715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Claude Code · Copilot · Cursor · Gemini · Windsurf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6 · ГОТОВЫЕ ИНСТРУМЕНТЫ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OpenSpec (Fission AI)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Лёгкий · дельты вместо переписывания · единственный с явной архивацией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440680" cy="338328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ПРИНЦИП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Дельты, не переписывание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КОГО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Существующие проекты, постепенные улучшения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88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УНИКАЛЬНО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88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Явная архивация (/opsx:archive)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2743200"/>
            <a:ext cx="5303520" cy="338328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ФЛОУ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4F9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/opsx:propose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3794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 Claude Code → файлы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4F9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/opsx:apply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37960" y="4800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4F9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/opsx:archive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7960" y="5715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5E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npx openspec init  ·  20+ агентов  ·  бесплатно  ·  без API-ключей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6 · ГОТОВЫЕ ИНСТРУМЕНТЫ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31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BMAD-METHOD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Самый «корпоративный» · команда ИИ-агентов с ролями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440680" cy="338328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ПРИНЦИП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ИИ-ролей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КОГО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Банки, медицина, регулируемые индустрии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МИНУС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Слишком много церемоний для маленькой команды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2743200"/>
            <a:ext cx="5303520" cy="3383280"/>
          </a:xfrm>
          <a:prstGeom prst="rect">
            <a:avLst/>
          </a:prstGeom>
          <a:solidFill>
            <a:srgbClr val="F6EEFE"/>
          </a:solidFill>
          <a:ln w="12700">
            <a:solidFill>
              <a:srgbClr val="F6EE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419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РОЛИ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3337560"/>
            <a:ext cx="1517904" cy="411480"/>
          </a:xfrm>
          <a:prstGeom prst="rect">
            <a:avLst/>
          </a:prstGeom>
          <a:solidFill>
            <a:srgbClr val="8F4DD0"/>
          </a:solidFill>
          <a:ln w="12700">
            <a:solidFill>
              <a:srgbClr val="8F4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33756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93024" y="3337560"/>
            <a:ext cx="914400" cy="411480"/>
          </a:xfrm>
          <a:prstGeom prst="rect">
            <a:avLst/>
          </a:prstGeom>
          <a:solidFill>
            <a:srgbClr val="8F4DD0"/>
          </a:solidFill>
          <a:ln w="12700">
            <a:solidFill>
              <a:srgbClr val="8F4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3337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244584" y="3337560"/>
            <a:ext cx="1847088" cy="411480"/>
          </a:xfrm>
          <a:prstGeom prst="rect">
            <a:avLst/>
          </a:prstGeom>
          <a:solidFill>
            <a:srgbClr val="8F4DD0"/>
          </a:solidFill>
          <a:ln w="12700">
            <a:solidFill>
              <a:srgbClr val="8F4D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44584" y="33375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3886200"/>
            <a:ext cx="2340864" cy="411480"/>
          </a:xfrm>
          <a:prstGeom prst="rect">
            <a:avLst/>
          </a:prstGeom>
          <a:solidFill>
            <a:srgbClr val="8F4DD0"/>
          </a:solidFill>
          <a:ln w="12700">
            <a:solidFill>
              <a:srgbClr val="8F4D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88620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Scrum Master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015984" y="3886200"/>
            <a:ext cx="914400" cy="411480"/>
          </a:xfrm>
          <a:prstGeom prst="rect">
            <a:avLst/>
          </a:prstGeom>
          <a:solidFill>
            <a:srgbClr val="8F4DD0"/>
          </a:solidFill>
          <a:ln w="12700">
            <a:solidFill>
              <a:srgbClr val="8F4D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15984" y="3886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067544" y="3886200"/>
            <a:ext cx="914400" cy="411480"/>
          </a:xfrm>
          <a:prstGeom prst="rect">
            <a:avLst/>
          </a:prstGeom>
          <a:solidFill>
            <a:srgbClr val="8F4DD0"/>
          </a:solidFill>
          <a:ln w="12700">
            <a:solidFill>
              <a:srgbClr val="8F4D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67544" y="3886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4434840"/>
            <a:ext cx="914400" cy="411480"/>
          </a:xfrm>
          <a:prstGeom prst="rect">
            <a:avLst/>
          </a:prstGeom>
          <a:solidFill>
            <a:srgbClr val="8F4DD0"/>
          </a:solidFill>
          <a:ln w="12700">
            <a:solidFill>
              <a:srgbClr val="8F4D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4434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37960" y="5715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419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compliance ledger · аудит-трейл каждого решения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6 · ГОТОВЫЕ ИНСТРУМЕНТЫ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GSD — Get Shit Done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Анти-бюрократический · решает «забивающуюся оперативку» архитектурно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440680" cy="338328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ПРИНЦИП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Каждая подзадача —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свежем чате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КОГО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Длинные автономные задачи в Claude Code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МИНУС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669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Заточен в основном вокруг Claude Code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2743200"/>
            <a:ext cx="5303520" cy="3383280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/gsd:discuss-phase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/gsd:plan-phase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89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/gsd:execute-phase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37960" y="4937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/gsd:verify-work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7960" y="5715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Сложность внутри. Наружу — пара команд.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6 · ГОТОВЫЕ ИНСТРУМЕНТЫ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Kiro (AWS)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Native IDE с встроенным SDD · для больших production-команд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440680" cy="338328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ПРИНЦИП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Полноценный IDE,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плагин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КОГО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Большие production-команды, AWS-стиль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349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МИНУС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669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Привязка к Kiro/Bedrock · смена IDE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2743200"/>
            <a:ext cx="5303520" cy="3383280"/>
          </a:xfrm>
          <a:prstGeom prst="rect">
            <a:avLst/>
          </a:prstGeom>
          <a:solidFill>
            <a:srgbClr val="DBF2FC"/>
          </a:solidFill>
          <a:ln w="12700">
            <a:solidFill>
              <a:srgbClr val="DBF2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698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ТРИ СТОЛПА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3291840"/>
            <a:ext cx="4846320" cy="868680"/>
          </a:xfrm>
          <a:prstGeom prst="rect">
            <a:avLst/>
          </a:prstGeom>
          <a:solidFill>
            <a:srgbClr val="FCFCFC"/>
          </a:solidFill>
          <a:ln w="12700">
            <a:solidFill>
              <a:srgbClr val="FCF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3291840"/>
            <a:ext cx="54864" cy="868680"/>
          </a:xfrm>
          <a:prstGeom prst="rect">
            <a:avLst/>
          </a:prstGeom>
          <a:solidFill>
            <a:srgbClr val="56C0F0"/>
          </a:solidFill>
          <a:ln w="12700">
            <a:solidFill>
              <a:srgbClr val="56C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3649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98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Specs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83880" y="33375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Структурированные спецификации,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of truth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4206240"/>
            <a:ext cx="4846320" cy="868680"/>
          </a:xfrm>
          <a:prstGeom prst="rect">
            <a:avLst/>
          </a:prstGeom>
          <a:solidFill>
            <a:srgbClr val="FCFCFC"/>
          </a:solidFill>
          <a:ln w="12700">
            <a:solidFill>
              <a:srgbClr val="FCF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4206240"/>
            <a:ext cx="54864" cy="868680"/>
          </a:xfrm>
          <a:prstGeom prst="rect">
            <a:avLst/>
          </a:prstGeom>
          <a:solidFill>
            <a:srgbClr val="56C0F0"/>
          </a:solidFill>
          <a:ln w="12700">
            <a:solidFill>
              <a:srgbClr val="56C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42793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98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Steering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83880" y="4251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Контекст проекта, автоматически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каждом разговоре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37960" y="5120640"/>
            <a:ext cx="4846320" cy="868680"/>
          </a:xfrm>
          <a:prstGeom prst="rect">
            <a:avLst/>
          </a:prstGeom>
          <a:solidFill>
            <a:srgbClr val="FCFCFC"/>
          </a:solidFill>
          <a:ln w="12700">
            <a:solidFill>
              <a:srgbClr val="FCF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7960" y="5120640"/>
            <a:ext cx="54864" cy="868680"/>
          </a:xfrm>
          <a:prstGeom prst="rect">
            <a:avLst/>
          </a:prstGeom>
          <a:solidFill>
            <a:srgbClr val="56C0F0"/>
          </a:solidFill>
          <a:ln w="12700">
            <a:solidFill>
              <a:srgbClr val="56C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5193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98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Hooks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83880" y="5166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Автоматизация: ИИ-prompts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save / create / delete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63640"/>
            <a:ext cx="10927080" cy="45720"/>
          </a:xfrm>
          <a:prstGeom prst="rect">
            <a:avLst/>
          </a:prstGeom>
          <a:solidFill>
            <a:srgbClr val="56C0F0"/>
          </a:solidFill>
          <a:ln w="12700">
            <a:solidFill>
              <a:srgbClr val="56C0F0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6 · ГОТОВЫЕ ИНСТРУМЕНТЫ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34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выбрать</a:t>
            </a:r>
            <a:endParaRPr lang="en-US" sz="3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10881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682496"/>
                <a:gridCol w="1682496"/>
                <a:gridCol w="1682496"/>
                <a:gridCol w="1682496"/>
                <a:gridCol w="168249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SPEC KIT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275EC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OPENSPEC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BMAD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GSD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1E698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KIRO</a:t>
                      </a:r>
                      <a:endParaRPr lang="en-US" sz="10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Сложность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Высокая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5EC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Низкая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Очень высокая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Минимум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698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IDE-уровень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Greenfield / Brownfield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Greenfield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5EC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Brownfield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Both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Both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698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Greenfield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Что это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плагин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5EC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плагин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процесс/роли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плагин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698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целый IDE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Архивация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папками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5EC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командой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по статусам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по статусам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698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spec=truth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92D3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Best fit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новая фича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5EC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brownfield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enterprise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16D7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длинные сессии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698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production-команда</a:t>
                      </a:r>
                      <a:endParaRPr lang="en-US" sz="12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91440" marB="91440">
                    <a:lnL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F2F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349240"/>
            <a:ext cx="10881360" cy="1097280"/>
          </a:xfrm>
          <a:prstGeom prst="rect">
            <a:avLst/>
          </a:prstGeom>
          <a:solidFill>
            <a:srgbClr val="D9F1E2"/>
          </a:solidFill>
          <a:ln w="12700">
            <a:solidFill>
              <a:srgbClr val="D9F1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5349240"/>
            <a:ext cx="91440" cy="1097280"/>
          </a:xfrm>
          <a:prstGeom prst="rect">
            <a:avLst/>
          </a:prstGeom>
          <a:solidFill>
            <a:srgbClr val="0A883A"/>
          </a:solidFill>
          <a:ln w="12700">
            <a:solidFill>
              <a:srgbClr val="0A88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663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нашей команды на старте — OpenSpec + Claude Code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05840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Минимум входного порога · явная архивация · работает с любым агентом · спеки в Markdown — миграция тривиальна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 / 44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solidFill>
            <a:srgbClr val="0A883A"/>
          </a:solidFill>
          <a:ln w="12700">
            <a:solidFill>
              <a:srgbClr val="0A8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A88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ДЕМО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Реальный кейс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SSO-авторизация на iOS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OpenSpec + Claude Code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Сейчас открою Claude Code и пройдусь по проекту —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артефакты, спека, история правок, архивация.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Полный цикл от устной идеи до 76 проходящих тестов.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427673" y="1106424"/>
            <a:ext cx="2176063" cy="4645152"/>
          </a:xfrm>
          <a:prstGeom prst="rect">
            <a:avLst/>
          </a:prstGeom>
          <a:solidFill>
            <a:srgbClr val="1F232C"/>
          </a:solidFill>
          <a:ln w="12700">
            <a:solidFill>
              <a:srgbClr val="1F232C"/>
            </a:solidFill>
            <a:prstDash val="solid"/>
          </a:ln>
        </p:spPr>
      </p:sp>
      <p:pic>
        <p:nvPicPr>
          <p:cNvPr id="11" name="Image 0" descr="/Users/pavel/Desktop/projects/standup/slides/assets/screenshots/sso-discov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249" y="1143000"/>
            <a:ext cx="210291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ДЕМО · ЧТО У НАС ПОЛУЧИЛОСЬ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36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у нас получилось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теория, не пример из чужого блога. Реальный код.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2697480" cy="219456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88920"/>
            <a:ext cx="2697480" cy="73152"/>
          </a:xfrm>
          <a:prstGeom prst="rect">
            <a:avLst/>
          </a:prstGeom>
          <a:solidFill>
            <a:srgbClr val="0A883A"/>
          </a:solidFill>
          <a:ln w="12700">
            <a:solidFill>
              <a:srgbClr val="0A88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A88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76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проходящих тестов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51860" y="2788920"/>
            <a:ext cx="2697480" cy="219456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1860" y="2788920"/>
            <a:ext cx="2697480" cy="73152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1860" y="30175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59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3589020" y="4297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задач в tasks.md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2788920"/>
            <a:ext cx="2697480" cy="219456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2788920"/>
            <a:ext cx="2697480" cy="73152"/>
          </a:xfrm>
          <a:prstGeom prst="rect">
            <a:avLst/>
          </a:prstGeom>
          <a:solidFill>
            <a:srgbClr val="56C0F0"/>
          </a:solidFill>
          <a:ln w="12700">
            <a:solidFill>
              <a:srgbClr val="56C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0175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6400800" y="4297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завершённый change в OpenSpec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75420" y="2788920"/>
            <a:ext cx="2697480" cy="219456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75420" y="2788920"/>
            <a:ext cx="2697480" cy="73152"/>
          </a:xfrm>
          <a:prstGeom prst="rect">
            <a:avLst/>
          </a:prstGeom>
          <a:solidFill>
            <a:srgbClr val="8F4DD0"/>
          </a:solidFill>
          <a:ln w="12700">
            <a:solidFill>
              <a:srgbClr val="8F4D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5420" y="301752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F4D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</a:t>
            </a:r>
            <a:endParaRPr lang="en-US" sz="6400" dirty="0"/>
          </a:p>
        </p:txBody>
      </p:sp>
      <p:sp>
        <p:nvSpPr>
          <p:cNvPr id="24" name="Text 22"/>
          <p:cNvSpPr/>
          <p:nvPr/>
        </p:nvSpPr>
        <p:spPr>
          <a:xfrm>
            <a:off x="9212580" y="4297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.swift файла кода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49240"/>
            <a:ext cx="10881360" cy="96012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349240"/>
            <a:ext cx="91440" cy="9601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3492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Через год можно открыть архив и понять — что и почему делали.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ДЕМО · А ТЕПЕРЬ — ЭТО УЖЕ В ПРОДЕ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Уже в продукте Elph Nova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Production-кейс на нашем же проекте · 2026-04-28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ФИЧА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last-seen text label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Текст давности «Был(а) в сети…» на 6 surface-ах профиля и шапки чата.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2834640" cy="74980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206240"/>
            <a:ext cx="54864" cy="749808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0624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828800" y="420624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0" y="4206240"/>
            <a:ext cx="2834640" cy="74980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4206240"/>
            <a:ext cx="54864" cy="749808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420624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846320" y="420624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коммитов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2834640" cy="74980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074920"/>
            <a:ext cx="54864" cy="749808"/>
          </a:xfrm>
          <a:prstGeom prst="rect">
            <a:avLst/>
          </a:prstGeom>
          <a:solidFill>
            <a:srgbClr val="0A883A"/>
          </a:solidFill>
          <a:ln w="12700">
            <a:solidFill>
              <a:srgbClr val="0A88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07492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88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828800" y="50749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unit-тестов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0" y="5074920"/>
            <a:ext cx="2834640" cy="749808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5074920"/>
            <a:ext cx="54864" cy="749808"/>
          </a:xfrm>
          <a:prstGeom prst="rect">
            <a:avLst/>
          </a:prstGeom>
          <a:solidFill>
            <a:srgbClr val="0A883A"/>
          </a:solidFill>
          <a:ln w="12700">
            <a:solidFill>
              <a:srgbClr val="0A88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507492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A88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4846320" y="507492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production bugs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055805" y="2587752"/>
            <a:ext cx="1529643" cy="3282696"/>
          </a:xfrm>
          <a:prstGeom prst="rect">
            <a:avLst/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pic>
        <p:nvPicPr>
          <p:cNvPr id="29" name="Image 0" descr="/Users/pavel/Desktop/projects/standup/slides/assets/screenshots/userstatu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93" y="2606040"/>
            <a:ext cx="1493067" cy="32461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400800" y="3904488"/>
            <a:ext cx="35818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новая фича  →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0080" y="5989320"/>
            <a:ext cx="10927080" cy="320040"/>
          </a:xfrm>
          <a:prstGeom prst="rect">
            <a:avLst/>
          </a:prstGeom>
          <a:solidFill>
            <a:srgbClr val="D9F1E2"/>
          </a:solidFill>
          <a:ln w="12700">
            <a:solidFill>
              <a:srgbClr val="D9F1E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" y="5989320"/>
            <a:ext cx="73152" cy="320040"/>
          </a:xfrm>
          <a:prstGeom prst="rect">
            <a:avLst/>
          </a:prstGeom>
          <a:solidFill>
            <a:srgbClr val="0A883A"/>
          </a:solidFill>
          <a:ln w="12700">
            <a:solidFill>
              <a:srgbClr val="0A883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63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/propose → /plan → /implement → /verification → /archive</a:t>
            </a:r>
            <a:pPr indent="0" marL="0">
              <a:buNone/>
            </a:pPr>
            <a:r>
              <a:rPr lang="en-US" sz="1000" i="1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собственный workflow на принципах SDD поверх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 / 44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Жизнь со спеками</a:t>
            </a:r>
            <a:endParaRPr lang="en-US" sz="5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реальном проекте</a:t>
            </a:r>
            <a:endParaRPr lang="en-US" sz="5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7 · ЖИЗНЬ СО СПЕКАМИ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39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Какие бывают спеки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Минимум для команды: фича + изменение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5349240" cy="155448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88920"/>
            <a:ext cx="73152" cy="155448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71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Спека на фичу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Большая, основная.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«Экран регистрации», «Чат с поддержкой».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788920"/>
            <a:ext cx="5349240" cy="1554480"/>
          </a:xfrm>
          <a:prstGeom prst="rect">
            <a:avLst/>
          </a:prstGeom>
          <a:solidFill>
            <a:srgbClr val="DBF2FC"/>
          </a:solidFill>
          <a:ln w="12700">
            <a:solidFill>
              <a:srgbClr val="DBF2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788920"/>
            <a:ext cx="73152" cy="1554480"/>
          </a:xfrm>
          <a:prstGeom prst="rect">
            <a:avLst/>
          </a:prstGeom>
          <a:solidFill>
            <a:srgbClr val="56C0F0"/>
          </a:solidFill>
          <a:ln w="12700">
            <a:solidFill>
              <a:srgbClr val="56C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971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Спека на изменение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34290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Маленькая дельта.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«Добавить кнопку в существующий экран».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5349240" cy="1554480"/>
          </a:xfrm>
          <a:prstGeom prst="rect">
            <a:avLst/>
          </a:prstGeom>
          <a:solidFill>
            <a:srgbClr val="FFEBD9"/>
          </a:solidFill>
          <a:ln w="12700">
            <a:solidFill>
              <a:srgbClr val="FFEB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480560"/>
            <a:ext cx="73152" cy="1554480"/>
          </a:xfrm>
          <a:prstGeom prst="rect">
            <a:avLst/>
          </a:prstGeom>
          <a:solidFill>
            <a:srgbClr val="FFA04D"/>
          </a:solidFill>
          <a:ln w="12700">
            <a:solidFill>
              <a:srgbClr val="FFA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663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Спека на миграцию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1206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Переход между состояниями.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«Переезжаем с CoreData на SwiftData».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4480560"/>
            <a:ext cx="5349240" cy="1554480"/>
          </a:xfrm>
          <a:prstGeom prst="rect">
            <a:avLst/>
          </a:prstGeom>
          <a:solidFill>
            <a:srgbClr val="F6EEFE"/>
          </a:solidFill>
          <a:ln w="12700">
            <a:solidFill>
              <a:srgbClr val="F6EE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4480560"/>
            <a:ext cx="73152" cy="1554480"/>
          </a:xfrm>
          <a:prstGeom prst="rect">
            <a:avLst/>
          </a:prstGeom>
          <a:solidFill>
            <a:srgbClr val="8F4DD0"/>
          </a:solidFill>
          <a:ln w="12700">
            <a:solidFill>
              <a:srgbClr val="8F4D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663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Архитектурная спека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46520" y="51206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модуль, контракт между фичами.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«Как устроен модуль авторизации».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7 · ЖИЗНЬ СО СПЕКАМИ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Чтобы не превратилось в кашу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Через 2–3 года SDD умирает на любом проекте без этих правил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5349240" cy="10058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88920"/>
            <a:ext cx="411480" cy="100584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88720" y="2898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Хозяин у каждой спеки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291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человек отвечает за актуальность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2788920"/>
            <a:ext cx="5349240" cy="10058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788920"/>
            <a:ext cx="411480" cy="100584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78892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20840" y="2898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Светофор ревизий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0840" y="3291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🔴 раз в мес · 🟡 раз в кв · 🟢 раз в год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5349240" cy="10058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931920"/>
            <a:ext cx="411480" cy="100584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3192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88720" y="4041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Скрипт «давно не обновляли»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CI: открывает задачу автоматически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931920"/>
            <a:ext cx="5349240" cy="10058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931920"/>
            <a:ext cx="411480" cy="100584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93192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720840" y="4041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Сравнение спека vs код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2084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spec-gen и аналоги — раз в квартал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074920"/>
            <a:ext cx="5349240" cy="10058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5074920"/>
            <a:ext cx="411480" cy="100584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07492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188720" y="5184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Линтеры для спек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88720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Vale.sh, проверка обязательных секций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2200" y="5074920"/>
            <a:ext cx="5349240" cy="10058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5074920"/>
            <a:ext cx="411480" cy="100584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507492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720840" y="5184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DoD: «спека обновлена»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720840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Главный рычаг. Без него — ничего не работает.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7 · ЖИЗНЬ СО СПЕКАМИ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41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Стратегия для легаси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Спеки не обязательно писать руками — ИИ сгенерирует из кода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solidFill>
            <a:srgbClr val="D9F1E2"/>
          </a:solidFill>
          <a:ln w="12700">
            <a:solidFill>
              <a:srgbClr val="D9F1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88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2788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делать ничего для модулей, в которые не лезете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640080" cy="640080"/>
          </a:xfrm>
          <a:prstGeom prst="rect">
            <a:avLst/>
          </a:prstGeom>
          <a:solidFill>
            <a:srgbClr val="D9F1E2"/>
          </a:solidFill>
          <a:ln w="12700">
            <a:solidFill>
              <a:srgbClr val="D9F1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02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88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63040" y="35021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Зашли на изменение — генерим baseline-спеку из кода (4–5 ч)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640080" cy="640080"/>
          </a:xfrm>
          <a:prstGeom prst="rect">
            <a:avLst/>
          </a:prstGeom>
          <a:solidFill>
            <a:srgbClr val="D9F1E2"/>
          </a:solidFill>
          <a:ln w="12700">
            <a:solidFill>
              <a:srgbClr val="D9F1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15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88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63040" y="421538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Дальше — только дельты на новые изменения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928616"/>
            <a:ext cx="640080" cy="640080"/>
          </a:xfrm>
          <a:prstGeom prst="rect">
            <a:avLst/>
          </a:prstGeom>
          <a:solidFill>
            <a:srgbClr val="D9F1E2"/>
          </a:solidFill>
          <a:ln w="12700">
            <a:solidFill>
              <a:srgbClr val="D9F1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928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88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463040" y="492861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Cold-spots без спек — это нормально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solidFill>
            <a:srgbClr val="E9EFF9"/>
          </a:solidFill>
          <a:ln w="12700">
            <a:solidFill>
              <a:srgbClr val="E9EF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Цель — не «всё покрыть», а «покрыть то, что меняется».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384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ФИНАЛ · АНТИПАТТЕРНЫ ВНЕДРЕНИЯ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42 / 44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482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Антипаттерны внедрения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616D7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 эти паттерны видел в живой природе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881360" cy="502920"/>
          </a:xfrm>
          <a:prstGeom prst="rect">
            <a:avLst/>
          </a:prstGeom>
          <a:solidFill>
            <a:srgbClr val="FEDEE3"/>
          </a:solidFill>
          <a:ln w="12700">
            <a:solidFill>
              <a:srgbClr val="FED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889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22A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✕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7889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Писать спеки на ВСЁ — команда выгорит за месяц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55848"/>
            <a:ext cx="10881360" cy="502920"/>
          </a:xfrm>
          <a:prstGeom prst="rect">
            <a:avLst/>
          </a:prstGeom>
          <a:solidFill>
            <a:srgbClr val="FEDEE3"/>
          </a:solidFill>
          <a:ln w="12700">
            <a:solidFill>
              <a:srgbClr val="FEDE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55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22A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✕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35584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Спеки как замена общению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922776"/>
            <a:ext cx="10881360" cy="502920"/>
          </a:xfrm>
          <a:prstGeom prst="rect">
            <a:avLst/>
          </a:prstGeom>
          <a:solidFill>
            <a:srgbClr val="FEDEE3"/>
          </a:solidFill>
          <a:ln w="12700">
            <a:solidFill>
              <a:srgbClr val="FEDE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227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22A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3922776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Спеки без хозяина — мусор через полгода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489704"/>
            <a:ext cx="10881360" cy="502920"/>
          </a:xfrm>
          <a:prstGeom prst="rect">
            <a:avLst/>
          </a:prstGeom>
          <a:solidFill>
            <a:srgbClr val="FEDEE3"/>
          </a:solidFill>
          <a:ln w="12700">
            <a:solidFill>
              <a:srgbClr val="FED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4897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22A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✕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80160" y="4489704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«Напишем потом, после кода» — это уже документация, не спека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056632"/>
            <a:ext cx="10881360" cy="502920"/>
          </a:xfrm>
          <a:prstGeom prst="rect">
            <a:avLst/>
          </a:prstGeom>
          <a:solidFill>
            <a:srgbClr val="FEDEE3"/>
          </a:solidFill>
          <a:ln w="12700">
            <a:solidFill>
              <a:srgbClr val="FEDE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0566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22A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✕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5056632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архивировать и не обновлять — куча устаревших файлов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623560"/>
            <a:ext cx="10881360" cy="502920"/>
          </a:xfrm>
          <a:prstGeom prst="rect">
            <a:avLst/>
          </a:prstGeom>
          <a:solidFill>
            <a:srgbClr val="FEDEE3"/>
          </a:solidFill>
          <a:ln w="12700">
            <a:solidFill>
              <a:srgbClr val="FEDE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6235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22A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✕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280160" y="562356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92D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Считать SDD религией — если не работает, меняем процесс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43 / 44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Elph Nova · SDD talk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ГЛАВНАЯ МЫСЛЬ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Спека —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10972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намерение,</a:t>
            </a:r>
            <a:endParaRPr lang="en-US" sz="6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которое переживает</a:t>
            </a:r>
            <a:endParaRPr lang="en-US" sz="6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разговор.</a:t>
            </a:r>
            <a:endParaRPr lang="en-US" sz="6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75EC7"/>
          </a:solidFill>
          <a:ln w="12700">
            <a:solidFill>
              <a:srgbClr val="275E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FCFCF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Спасибо.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005840" y="23774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275EC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Вопросы.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100584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МАТЕРИАЛЫ ДОКЛАДА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5262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notes/06-faq.md  —  20 вопросов с ответами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notes/09-openspec-deepdive.md  —  внедрение пошагово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references.md  —  все источники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6C0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ПОЧИТАТЬ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45262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martinfowler.com  —  Understanding SDD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github.com/github/spec-kit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CFC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openspec.dev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E97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Pavel Guzenko  ·  Elph Nova  ·  Eltex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Spec-Driven Development</dc:title>
  <dc:subject>PptxGenJS Presentation</dc:subject>
  <dc:creator>Eltex / Elph Nova team</dc:creator>
  <cp:lastModifiedBy>Eltex / Elph Nova team</cp:lastModifiedBy>
  <cp:revision>1</cp:revision>
  <dcterms:created xsi:type="dcterms:W3CDTF">2026-04-30T01:46:28Z</dcterms:created>
  <dcterms:modified xsi:type="dcterms:W3CDTF">2026-04-30T01:46:28Z</dcterms:modified>
</cp:coreProperties>
</file>